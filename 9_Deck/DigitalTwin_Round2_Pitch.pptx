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74519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DigitalTwin.ai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971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B3C4"/>
                </a:solidFill>
                <a:latin typeface="Calibri"/>
              </a:rPr>
              <a:t>A vehicle assembly line that tells you which station is costing you cars —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B3C4"/>
                </a:solidFill>
                <a:latin typeface="Calibri"/>
              </a:rPr>
              <a:t>and what to do about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1371600" cy="4114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2976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3C4"/>
                </a:solidFill>
                <a:latin typeface="Calibri"/>
              </a:rPr>
              <a:t>Team HipHipHooray  ·  Sagar Sahu, Priyansh Goyal  ·  IIT Kharagpur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3C4"/>
                </a:solidFill>
                <a:latin typeface="Calibri"/>
              </a:rPr>
              <a:t>Accenture Innovation Challenge 2026  ·  Problem Track 4  ·  Round 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39595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81051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1428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2344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326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94176" y="5623560"/>
            <a:ext cx="420624" cy="457200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5091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6924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8756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967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0588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61504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242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03336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7425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7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6084" y="5623560"/>
            <a:ext cx="420624" cy="457200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A plant knows last month's OEE.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>
                <a:solidFill>
                  <a:srgbClr val="5A6067"/>
                </a:solidFill>
                <a:latin typeface="Calibri"/>
              </a:rPr>
              <a:t>It does not know which station is holding the line back at 14:20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20440" cy="457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constraint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~20 times per shift in our data. A weekly average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describes no moment of the shift it covers.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2286000"/>
            <a:ext cx="3520440" cy="45720"/>
          </a:xfrm>
          <a:prstGeom prst="rect">
            <a:avLst/>
          </a:prstGeom>
          <a:solidFill>
            <a:srgbClr val="C8A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Utilisation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A blocked station and a slow station both read ~95%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busy. Ranking by busyness sends people to the victim.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228600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data is uneven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Legacy and modern equipment mixed. Some stations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emit nothing at all — a human with a clipboard.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B1E21"/>
                </a:solidFill>
                <a:latin typeface="Calibri"/>
              </a:rPr>
              <a:t>The gap is not sensing, and it is not another dashboard. It is the step from describing the line to deciding on it 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B1E21"/>
                </a:solidFill>
                <a:latin typeface="Calibri"/>
              </a:rPr>
              <a:t>and doing that honestly enough that a supervisor still trusts it after the third false alarm.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WHAT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We built the loop, and ran it for 903 shifts.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A6067"/>
                </a:solidFill>
                <a:latin typeface="Calibri"/>
              </a:rPr>
              <a:t>Ingest → detect → rank → prescribe → re-read, on a timer. Not a report.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5D99"/>
                </a:solidFill>
                <a:latin typeface="Consolas"/>
              </a:rPr>
              <a:t>903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shifts replayed through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the live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7287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47287" y="21488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5D99"/>
                </a:solidFill>
                <a:latin typeface="Consolas"/>
              </a:rPr>
              <a:t>86,742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decisions recorded to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 queryable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214884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Consolas"/>
              </a:rPr>
              <a:t>26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per decision — 800× the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headroom a 60× replay needs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3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1703" y="214884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2872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Consolas"/>
              </a:rPr>
              <a:t>13/13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timepoints verified causal: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it never reads t &gt; 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E21"/>
                </a:solidFill>
                <a:latin typeface="Calibri"/>
              </a:rPr>
              <a:t>Causality is enforced structurally, not promised.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348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The detector is handed a view of the run truncated at now — so it cannot read the future even by accident.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Rebuilding it per tick also means each station's baseline is learned only from data that has actually happened,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which is what a plant sees on day one and is strictly harder than the offline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1 · UNEVEN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It names stations that have no sensors.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42646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424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9816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783080"/>
            <a:ext cx="502920" cy="566928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095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88736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430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6208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7656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322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5100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0879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66576" y="1783080"/>
            <a:ext cx="502920" cy="566928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4871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6067"/>
                </a:solidFill>
                <a:latin typeface="Calibri"/>
              </a:rPr>
              <a:t>hatched = no sensors at all   ·   red = the constraint   ·   amber = forming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06324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0632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20954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5D99"/>
                </a:solidFill>
                <a:latin typeface="Consolas"/>
              </a:rPr>
              <a:t>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381304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all forming-bottleneck warnings name a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station with zero instrumentation   [15.0–15.9]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n=29,060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06324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3063240"/>
            <a:ext cx="50292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320954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B3261E"/>
                </a:solidFill>
                <a:latin typeface="Consolas"/>
              </a:rPr>
              <a:t>2.76%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81304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vehicles a manual checklist PASSED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went on to fail end-of-line   ·   96.51% pass rate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n=31,329 checklist entries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127248"/>
            <a:ext cx="3520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Body + final assembly: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75.3% instrumented,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24.7% on manual checks —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an exact match to the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brief's own reference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parameters.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709160"/>
            <a:ext cx="1090879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A checklist reading near-100% against a non-zero EOL failure rate is measuring compliance with the checklist,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not quality — exactly what the design predicted, and structurally the same failure as our sensor_bias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tools: the instrument is the thing that is wrong. Manual checks enter as a fourth data tier — attested —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carrying the entry latency (mean 4.8 min), because a human record does not exist until someone types it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FROM DETECTION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It does not just report. It prescribes.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2606040" cy="868680"/>
          </a:xfrm>
          <a:prstGeom prst="rect">
            <a:avLst/>
          </a:prstGeom>
          <a:solidFill>
            <a:srgbClr val="DD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DESCRIPTIVE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what happened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7" y="1783080"/>
            <a:ext cx="2606040" cy="868680"/>
          </a:xfrm>
          <a:prstGeom prst="rect">
            <a:avLst/>
          </a:prstGeom>
          <a:solidFill>
            <a:srgbClr val="C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DIAGNOSTIC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96" y="1783080"/>
            <a:ext cx="2606040" cy="868680"/>
          </a:xfrm>
          <a:prstGeom prst="rect">
            <a:avLst/>
          </a:prstGeom>
          <a:solidFill>
            <a:srgbClr val="7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what is about 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61703" y="1783080"/>
            <a:ext cx="2606040" cy="86868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3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PRESCRIPTIVE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3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what to 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017520"/>
            <a:ext cx="109087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50292" cy="14173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004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1B1E21"/>
                </a:solidFill>
                <a:latin typeface="Calibri"/>
              </a:rPr>
              <a:t>S20 — Tool change / maintenance pull-forward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1188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processing time is climbing against this station's own baseline   ·   margin 71.8 s   ·   next best S12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Leaving it alone costs ≈ 0.73 vehicles over the median 10-minute episode.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action vocabulary is a library. The ranking and the cost are computed.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Ground truth is not "which station looked busiest" — it is the station whose speed-up actually produces more cars,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measured by re-running the line under common random numbers. That makes the benchmark economic, not definitional.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DOES IT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Measured against economic ground truth.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Regret = cars per block lost by acting on our pick instead of the true best. Lower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482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Ours (effective 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206654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0" y="2066544"/>
            <a:ext cx="6209176" cy="362712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52760" y="204825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21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Active period (Roser)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63042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7520" y="2630424"/>
            <a:ext cx="6394170" cy="362712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52760" y="26121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Utilisation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19430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3194304"/>
            <a:ext cx="7006075" cy="36271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52760" y="3176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1.477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5303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0292" cy="17373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Calibri"/>
              </a:rPr>
              <a:t>What we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34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We beat the utilisation baseline —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McNemar paired test, p = 0.0025, n = 202 blocks.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3886200"/>
            <a:ext cx="5303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3886200"/>
            <a:ext cx="50292" cy="17373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4069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3261E"/>
                </a:solidFill>
                <a:latin typeface="Calibri"/>
              </a:rPr>
              <a:t>What we refuse to claim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434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That we beat the active-period method.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p = 0.45 — statistically tied. Saying otherwise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would not survive one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6 ·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Regret transfers. Accuracy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The same method on four different line topologies — including one with a parallel pair that breaks the series assumption.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Calibri"/>
              </a:rPr>
              <a:t>TOP-1 ACCURACY  — collapses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L1  20 stn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4323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17520" y="2432304"/>
            <a:ext cx="1709013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414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44.5%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40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L2  30 stn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8323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17520" y="2832354"/>
            <a:ext cx="407090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8140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41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L3  parallel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2324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3232404"/>
            <a:ext cx="529986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32141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13.8%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41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L4  15 stn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36324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17520" y="3632454"/>
            <a:ext cx="841065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36141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21.9%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D6A4F"/>
                </a:solidFill>
                <a:latin typeface="Calibri"/>
              </a:rPr>
              <a:t>REGRET  — 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L1  20 stn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4323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2432304"/>
            <a:ext cx="1449781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52760" y="2414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140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L2  30 stn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28323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2832354"/>
            <a:ext cx="1461782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52760" y="28140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141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L3  parallel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32324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0" y="3232404"/>
            <a:ext cx="1717414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32141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1.431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6141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L4  15 stn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36324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0" y="3632454"/>
            <a:ext cx="1465383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52760" y="36141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1.221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206240"/>
            <a:ext cx="109087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4206240"/>
            <a:ext cx="50292" cy="14173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389120"/>
            <a:ext cx="10332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1E21"/>
                </a:solidFill>
                <a:latin typeface="Calibri"/>
              </a:rPr>
              <a:t>Sensor maturity: running with zero PLC state tags costs +1.683 cars/block on L1 — but +0.021 on L2.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State tags matter enormously where a strong constraint exists, and almost not at all on a balanced line.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So instrument the lines with the most to gain first — a more useful retrofit input than one averaged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7 · FALSE ALARMS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The hard part is being trusted on day 30.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D6A4F"/>
                </a:solidFill>
                <a:latin typeface="Consolas"/>
              </a:rPr>
              <a:t>0.479 → 0.025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calibration error (ECE)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before → after fitting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1688" y="182880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5D99"/>
                </a:solidFill>
                <a:latin typeface="Consolas"/>
              </a:rPr>
              <a:t>48.6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alerts per shift, against the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ISA-18.2 budget of 150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82880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5D99"/>
                </a:solidFill>
                <a:latin typeface="Consola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alerts SUPPRESSED for want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evidence, not downgraded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204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E21"/>
                </a:solidFill>
                <a:latin typeface="Calibri"/>
              </a:rPr>
              <a:t>Calibrating the confidence broke our own alerting — and that was the finding.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50208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Uncalibrated, the detector claimed ~1.0 confidence and everything got through. Calibrated, it sits at the honest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hit rate near 0.11 — and the same threshold silenced every alert. The system went quiet precisely because it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became truthful. So we stopped gating on the probability of being exactly right, and started gating on the cost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of being ignored. That is our "regret, not accuracy" principle moved out of the evaluation and into the product.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49240"/>
            <a:ext cx="1090879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50292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B1E21"/>
                </a:solidFill>
                <a:latin typeface="Calibri"/>
              </a:rPr>
              <a:t>We also killed one of our own mechanisms: overtake-risk predicted a bottleneck 5.9% of the time [1.0–27.0, n=17]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B1E21"/>
                </a:solidFill>
                <a:latin typeface="Calibri"/>
              </a:rPr>
              <a:t>while claiming 70–100% confidence. It is gone from the live path. Negative results get equal billing.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4 · DEFECTS FOUND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Two tools. Same symptom. Opposite answers.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3619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Both present identically to a torque-only monitor: "the reading moved".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90879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50292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1E21"/>
                </a:solidFill>
                <a:latin typeface="Consolas"/>
              </a:rPr>
              <a:t>S05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5798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3261E"/>
                </a:solidFill>
                <a:latin typeface="Calibri"/>
              </a:rPr>
              <a:t>REAL WEAR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39696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SERVICE the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96896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067"/>
                </a:solidFill>
                <a:latin typeface="Consolas"/>
              </a:rPr>
              <a:t>torque −3.6σ  ·  current −4.1σ  ·  angle +6.0σ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both look like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"the torque moved"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11296"/>
            <a:ext cx="1090879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758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1E21"/>
                </a:solidFill>
                <a:latin typeface="Consolas"/>
              </a:rPr>
              <a:t>S06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307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5D99"/>
                </a:solidFill>
                <a:latin typeface="Calibri"/>
              </a:rPr>
              <a:t>SENSOR LYING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12463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RECALIBRATE only — do NOT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69663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067"/>
                </a:solidFill>
                <a:latin typeface="Consolas"/>
              </a:rPr>
              <a:t>torque −2.9σ  ·  current +0.5σ  ·  angle −0.2σ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both look like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"the torque moved"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Servicing a lying sensor scraps good parts and fixes nothing.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Onset is read backwards off the CUSUM accumulator — dated to +2 minutes of truth — then the VIN thread lists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exactly which vehicles carry it: 202 through S05, 48 still on the line, 154 already completed. 70.5% of alarmed tools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get an actionable diagnosis [67.9–72.9, n=1,246].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Three users. One twin. Proven, not asserted.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Floor supervisor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ISA-101: grey base, colour only on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deviation. Quiet until something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is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Plant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weekly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A constraint-occupancy distribution,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deliberately not an average —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the constraint moves ~20×/shift.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Leadership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investment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Value and coverage, every figure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naming the file that produced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90879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50292" cy="15087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D6A4F"/>
                </a:solidFill>
                <a:latin typeface="Calibri"/>
              </a:rPr>
              <a:t>The reconciliation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920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Each level totals independently and is compared: 6,730 constraint-minutes and 4,431 vehicles — identical across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supervisor records, manager weeks and leadership. That is how you show three views are one twin rather than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three dashboards that happen to sit in the same app.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Shadow first. Never closed-loop.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1790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Reads seven tables the plant already produces — scans, PLC state tags, buffer counters, tool results, andon, rework, calendar. No new hardware on day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Shadow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wk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Subscribe to streams the plant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already discards. No writes.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1215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5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One 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wk 5–10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One line, one shift, one screen.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Every alert confirmed by a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mo 3–6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All shifts. Manager view opens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for planning.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33488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33488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7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Retrofit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7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next 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Costed sensor list, installed at a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scheduled shutdown.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4624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47503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7503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Second 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3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mo 6–12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3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Transfer. Report the commissioning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curve, not a yes/no.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434840"/>
            <a:ext cx="10908792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434840"/>
            <a:ext cx="50292" cy="685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1E21"/>
                </a:solidFill>
                <a:latin typeface="Calibri"/>
              </a:rPr>
              <a:t>Never: closed-loop write to line control — enforced by a test, not a promise.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2852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What we deliberately did not do:  operator variation — excluded on ethical grounds, we measure the station, never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the person.  ·  equipment vintage — no data axis for it.  ·  a CONWIP lead-time figure — no source file, so it does not appear.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Not yet built:  the historian adapter. Shadow mode runs today on exported logs; one module connects it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The plant already has the data.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FB3C4"/>
                </a:solidFill>
                <a:latin typeface="Calibri"/>
              </a:rPr>
              <a:t>What it has been missing is a model that connects it to cause,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9FB3C4"/>
                </a:solidFill>
                <a:latin typeface="Calibri"/>
              </a:rPr>
              <a:t>consequence, and the next best action.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520440"/>
            <a:ext cx="1371600" cy="4114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903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shifts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79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15.5%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warnings on dark stations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0.025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calibration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19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70.5%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tools actionably diagnosed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9FB3C4"/>
                </a:solidFill>
                <a:latin typeface="Calibri"/>
              </a:rPr>
              <a:t>Every number here is measured, with its source file named — including the ones that got worse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9FB3C4"/>
                </a:solidFill>
                <a:latin typeface="Calibri"/>
              </a:rPr>
              <a:t>when we looked harder, and the mechanism we killed.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39595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51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1428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52344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2326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94176" y="6263640"/>
            <a:ext cx="420624" cy="320040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5091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6008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6924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8756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967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0588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1504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3242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03336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7425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45167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6084" y="6263640"/>
            <a:ext cx="420624" cy="320040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