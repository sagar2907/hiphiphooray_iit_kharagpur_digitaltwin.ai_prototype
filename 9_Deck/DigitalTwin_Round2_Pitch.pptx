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DigitalTwin.ai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971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4"/>
                </a:solidFill>
                <a:latin typeface="Calibri"/>
              </a:rPr>
              <a:t>A vehicle assembly line that tells you which station is costing you cars —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4"/>
                </a:solidFill>
                <a:latin typeface="Calibri"/>
              </a:rPr>
              <a:t>and what to do about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1371600" cy="4114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2976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9FB3C4"/>
                </a:solidFill>
                <a:latin typeface="Calibri"/>
              </a:rPr>
              <a:t>Team HipHipHooray  ·  Sagar Sahu, Priyansh Goyal  ·  IIT Kharagpur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9FB3C4"/>
                </a:solidFill>
                <a:latin typeface="Calibri"/>
              </a:rPr>
              <a:t>Accenture Innovation Challenge 2026  ·  Problem Track 4  ·  Round 2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339595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0512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1428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2344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3260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4176" y="5623560"/>
            <a:ext cx="420624" cy="457200"/>
          </a:xfrm>
          <a:prstGeom prst="rect">
            <a:avLst/>
          </a:prstGeom>
          <a:solidFill>
            <a:srgbClr val="C8A415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41F00"/>
                </a:solidFill>
                <a:latin typeface="Consolas"/>
              </a:rPr>
              <a:t>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5091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6008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06924" y="5623560"/>
            <a:ext cx="420624" cy="457200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77840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48756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9672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0588" y="5623560"/>
            <a:ext cx="420624" cy="457200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61504" y="5623560"/>
            <a:ext cx="420624" cy="457200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2420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03336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74252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45167" y="5623560"/>
            <a:ext cx="420624" cy="45720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16084" y="5623560"/>
            <a:ext cx="420624" cy="457200"/>
          </a:xfrm>
          <a:prstGeom prst="rect">
            <a:avLst/>
          </a:prstGeom>
          <a:solidFill>
            <a:srgbClr val="B3261E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A plant knows last month's OEE.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>
                <a:solidFill>
                  <a:srgbClr val="5A6067"/>
                </a:solidFill>
                <a:latin typeface="Calibri"/>
              </a:rPr>
              <a:t>It does not know which station is holding the line back at 14:20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3520440" cy="4572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The constraint moves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3580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~20 times per shift in our data. A weekly average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describes no moment of the shift it covers.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28600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2286000"/>
            <a:ext cx="3520440" cy="45720"/>
          </a:xfrm>
          <a:prstGeom prst="rect">
            <a:avLst/>
          </a:prstGeom>
          <a:solidFill>
            <a:srgbClr val="C8A4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Utilisation lies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03580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A blocked station and a slow station both read ~95%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busy. Ranking by busyness sends people to the victim.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228600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286000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2542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The data is uneven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3035808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Legacy and modern equipment mixed. Some stations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emit nothing at all — a human with a clipboard.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B1E21"/>
                </a:solidFill>
                <a:latin typeface="Calibri"/>
              </a:rPr>
              <a:t>The gap is not sensing, and it is not another dashboard. It is the step from describing the line to deciding on it —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B1E21"/>
                </a:solidFill>
                <a:latin typeface="Calibri"/>
              </a:rPr>
              <a:t>and doing that honestly enough that a supervisor still trusts it after the third false alarm.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WHAT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We built the loop, and ran it for 903 shifts.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A6067"/>
                </a:solidFill>
                <a:latin typeface="Calibri"/>
              </a:rPr>
              <a:t>Ingest → detect → rank → prescribe → re-read, on a timer. Not a report.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1488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48840"/>
            <a:ext cx="50292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29514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5D99"/>
                </a:solidFill>
                <a:latin typeface="Consolas"/>
              </a:rPr>
              <a:t>903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98648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shifts replayed through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the live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7" y="21488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7" y="2148840"/>
            <a:ext cx="50292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229514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5D99"/>
                </a:solidFill>
                <a:latin typeface="Consolas"/>
              </a:rPr>
              <a:t>86,742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898648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decisions recorded to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a queryable database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21488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2148840"/>
            <a:ext cx="50292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229514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D6A4F"/>
                </a:solidFill>
                <a:latin typeface="Consolas"/>
              </a:rPr>
              <a:t>26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898648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per decision — 800× the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headroom a 60× replay needs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3" y="2148840"/>
            <a:ext cx="26060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3" y="2148840"/>
            <a:ext cx="50292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2872" y="2295144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D6A4F"/>
                </a:solidFill>
                <a:latin typeface="Consolas"/>
              </a:rPr>
              <a:t>13/13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2898648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timepoints verified causal: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it never reads t &gt;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1"/>
                </a:solidFill>
                <a:latin typeface="Calibri"/>
              </a:rPr>
              <a:t>Causality is enforced structurally, not promised.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6067"/>
                </a:solidFill>
                <a:latin typeface="Calibri"/>
              </a:rPr>
              <a:t>The detector is handed a view of the run truncated at now — so it cannot read the future even by accident.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6067"/>
                </a:solidFill>
                <a:latin typeface="Calibri"/>
              </a:rPr>
              <a:t>Rebuilding it per tick also means each station's baseline is learned only from data that has actually happened,</a:t>
            </a:r>
          </a:p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6067"/>
                </a:solidFill>
                <a:latin typeface="Calibri"/>
              </a:rPr>
              <a:t>which is what a plant sees on day one and is strictly harder than the offline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COMPLEXITY 1 · UNEVEN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It names stations that have no sensors.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26464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984248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2542032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9816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15384" y="1783080"/>
            <a:ext cx="502920" cy="566928"/>
          </a:xfrm>
          <a:prstGeom prst="rect">
            <a:avLst/>
          </a:prstGeom>
          <a:solidFill>
            <a:srgbClr val="C8A415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41F00"/>
                </a:solidFill>
                <a:latin typeface="Consolas"/>
              </a:rPr>
              <a:t>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3168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88736" y="1783080"/>
            <a:ext cx="502920" cy="566928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04304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62088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783080"/>
            <a:ext cx="502920" cy="566928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6" y="1783080"/>
            <a:ext cx="502920" cy="566928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3224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51008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08792" y="1783080"/>
            <a:ext cx="502920" cy="566928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66576" y="1783080"/>
            <a:ext cx="502920" cy="566928"/>
          </a:xfrm>
          <a:prstGeom prst="rect">
            <a:avLst/>
          </a:prstGeom>
          <a:solidFill>
            <a:srgbClr val="B3261E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48716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5A6067"/>
                </a:solidFill>
                <a:latin typeface="Calibri"/>
              </a:rPr>
              <a:t>hatched = no sensors at all   ·   red = the constraint   ·   amber = forming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063240"/>
            <a:ext cx="50292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3209544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C5D99"/>
                </a:solidFill>
                <a:latin typeface="Consolas"/>
              </a:rPr>
              <a:t>15.5%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813048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of all forming-bottleneck warnings name a station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with zero instrumentation   [15.0–15.9], n=29,060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127248"/>
            <a:ext cx="69494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1B1E21"/>
                </a:solidFill>
                <a:latin typeface="Calibri"/>
              </a:rPr>
              <a:t>A dark station emits no scans and no states. It is recovered from the buffer slope either side —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B1E21"/>
                </a:solidFill>
                <a:latin typeface="Calibri"/>
              </a:rPr>
              <a:t>and that is free: the sensors are already there, on its neighbours.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B1E21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B1E21"/>
                </a:solidFill>
                <a:latin typeface="Calibri"/>
              </a:rPr>
              <a:t>Manual checklists enter as a fourth data tier — attested — carrying the entry latency, because a human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B1E21"/>
                </a:solidFill>
                <a:latin typeface="Calibri"/>
              </a:rPr>
              <a:t>record does not exist for the twin until someone types it in. A checklist that always reads OK is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1B1E21"/>
                </a:solidFill>
                <a:latin typeface="Calibri"/>
              </a:rPr>
              <a:t>measuring compliance with the checklist, not quality.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FROM DETECTION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It does not just report. It prescribes.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2606040" cy="868680"/>
          </a:xfrm>
          <a:prstGeom prst="rect">
            <a:avLst/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938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E21"/>
                </a:solidFill>
                <a:latin typeface="Calibri"/>
              </a:rPr>
              <a:t>DESCRIPTIVE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7"/>
                </a:solidFill>
                <a:latin typeface="Calibri"/>
              </a:rPr>
              <a:t>what happened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47287" y="1783080"/>
            <a:ext cx="2606040" cy="868680"/>
          </a:xfrm>
          <a:prstGeom prst="rect">
            <a:avLst/>
          </a:prstGeom>
          <a:solidFill>
            <a:srgbClr val="C3D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938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E21"/>
                </a:solidFill>
                <a:latin typeface="Calibri"/>
              </a:rPr>
              <a:t>DIAGNOSTIC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7"/>
                </a:solidFill>
                <a:latin typeface="Calibri"/>
              </a:rPr>
              <a:t>why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4496" y="1783080"/>
            <a:ext cx="2606040" cy="868680"/>
          </a:xfrm>
          <a:prstGeom prst="rect">
            <a:avLst/>
          </a:prstGeom>
          <a:solidFill>
            <a:srgbClr val="7FA8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938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B1E21"/>
                </a:solidFill>
                <a:latin typeface="Calibri"/>
              </a:rPr>
              <a:t>PREDICTIVE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A6067"/>
                </a:solidFill>
                <a:latin typeface="Calibri"/>
              </a:rPr>
              <a:t>what is about 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61703" y="1783080"/>
            <a:ext cx="2606040" cy="86868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3" y="19385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Calibri"/>
              </a:rPr>
              <a:t>PRESCRIPTIVE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3" y="22402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what to 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17520"/>
            <a:ext cx="10908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17520"/>
            <a:ext cx="50292" cy="14173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B1E21"/>
                </a:solidFill>
                <a:latin typeface="Calibri"/>
              </a:rPr>
              <a:t>S20 — Tool change / maintenance pull-forward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processing time is climbing against this station's own baseline   ·   margin 71.8 s   ·   next best S12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Leaving it alone costs ≈ 0.73 vehicles over the median 10-minute episode.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66344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The action vocabulary is a library. The ranking and the cost are computed.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Ground truth is not "which station looked busiest" — it is the station whose speed-up actually produces more cars,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measured by re-running the line under common random numbers. That makes the benchmark economic, not definitional.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DOES IT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Measured against economic ground truth.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67"/>
                </a:solidFill>
                <a:latin typeface="Calibri"/>
              </a:rPr>
              <a:t>Regret = cars per block lost by acting on our pick instead of the true best. Lower is better.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4825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Ours (effective CT)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066544"/>
            <a:ext cx="7589520" cy="36271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17520" y="2066544"/>
            <a:ext cx="6209176" cy="362712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52760" y="204825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1.309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121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Active period (Roser)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630424"/>
            <a:ext cx="7589520" cy="36271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2630424"/>
            <a:ext cx="6394170" cy="362712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52760" y="26121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76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Utilisation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194304"/>
            <a:ext cx="7589520" cy="36271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3194304"/>
            <a:ext cx="7006075" cy="36271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52760" y="31760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1.477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5303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50292" cy="17373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6A4F"/>
                </a:solidFill>
                <a:latin typeface="Calibri"/>
              </a:rPr>
              <a:t>What we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1B1E21"/>
                </a:solidFill>
                <a:latin typeface="Calibri"/>
              </a:rPr>
              <a:t>We beat the utilisation baseline —</a:t>
            </a:r>
          </a:p>
          <a:p>
            <a:pPr algn="l">
              <a:lnSpc>
                <a:spcPct val="135000"/>
              </a:lnSpc>
            </a:pPr>
            <a:r>
              <a:rPr sz="1300" b="0">
                <a:solidFill>
                  <a:srgbClr val="1B1E21"/>
                </a:solidFill>
                <a:latin typeface="Calibri"/>
              </a:rPr>
              <a:t>McNemar paired test, p = 0.0025, n = 202 blocks.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5352" y="3886200"/>
            <a:ext cx="53035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45352" y="3886200"/>
            <a:ext cx="50292" cy="17373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4069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B3261E"/>
                </a:solidFill>
                <a:latin typeface="Calibri"/>
              </a:rPr>
              <a:t>What we refuse to claim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434840"/>
            <a:ext cx="48463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B1E21"/>
                </a:solidFill>
                <a:latin typeface="Calibri"/>
              </a:rPr>
              <a:t>That we beat the active-period method.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B1E21"/>
                </a:solidFill>
                <a:latin typeface="Calibri"/>
              </a:rPr>
              <a:t>p = 0.45 — statistically tied. Saying otherwise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B1E21"/>
                </a:solidFill>
                <a:latin typeface="Calibri"/>
              </a:rPr>
              <a:t>would not survive one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COMPLEXITY 6 ·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Regret transfers. Accuracy does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67"/>
                </a:solidFill>
                <a:latin typeface="Calibri"/>
              </a:rPr>
              <a:t>The same method on four different line topologies — including one with a parallel pair that breaks the series assumption.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3261E"/>
                </a:solidFill>
                <a:latin typeface="Calibri"/>
              </a:rPr>
              <a:t>TOP-1 ACCURACY  — collapses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14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L1  20 stn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43230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20" y="2432304"/>
            <a:ext cx="1709013" cy="19888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4140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44.5%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1406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L2  30 stn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83235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2832354"/>
            <a:ext cx="407090" cy="19888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81406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10.6%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141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L3  parallel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3240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3232404"/>
            <a:ext cx="529986" cy="19888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83480" y="32141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13.8%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1416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L4  15 stn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17520" y="363245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3632454"/>
            <a:ext cx="841065" cy="198882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61416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21.9%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0116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D6A4F"/>
                </a:solidFill>
                <a:latin typeface="Calibri"/>
              </a:rPr>
              <a:t>REGRET  — 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4140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L1  20 stn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43230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0" y="2432304"/>
            <a:ext cx="1449781" cy="19888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52760" y="24140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1.208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81406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L2  30 stn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86800" y="283235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0" y="2832354"/>
            <a:ext cx="1461782" cy="19888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52760" y="281406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1.218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1411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L3  parallel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323240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0" y="3232404"/>
            <a:ext cx="1717414" cy="19888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52760" y="321411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1.431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61416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1B1E21"/>
                </a:solidFill>
                <a:latin typeface="Calibri"/>
              </a:rPr>
              <a:t>L4  15 stn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86800" y="3632454"/>
            <a:ext cx="1920240" cy="198882"/>
          </a:xfrm>
          <a:prstGeom prst="rect">
            <a:avLst/>
          </a:prstGeom>
          <a:solidFill>
            <a:srgbClr val="E4E8EB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0" y="3632454"/>
            <a:ext cx="1465383" cy="19888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52760" y="361416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1B1E21"/>
                </a:solidFill>
                <a:latin typeface="Consolas"/>
              </a:rPr>
              <a:t>1.221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206240"/>
            <a:ext cx="1090879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" y="4206240"/>
            <a:ext cx="50292" cy="14173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389120"/>
            <a:ext cx="103327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1"/>
                </a:solidFill>
                <a:latin typeface="Calibri"/>
              </a:rPr>
              <a:t>Sensor maturity: running with zero PLC state tags costs +1.683 cars/block on L1 — but +0.021 on L2.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80060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State tags matter enormously where a strong constraint exists, and almost not at all on a balanced line.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So instrument the lines with the most to gain first — a more useful retrofit input than one averaged number.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COMPLEXITY 7 · FALSE ALARMS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The hard part is being trusted on day 30.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0292" cy="137160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7510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2D6A4F"/>
                </a:solidFill>
                <a:latin typeface="Consolas"/>
              </a:rPr>
              <a:t>0.479 → 0.025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5786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calibration error (ECE)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before → after fitting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8288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828800"/>
            <a:ext cx="50292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97510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5D99"/>
                </a:solidFill>
                <a:latin typeface="Consolas"/>
              </a:rPr>
              <a:t>48.6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5786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alerts per shift, against the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ISA-18.2 budget of 150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3296" y="1828800"/>
            <a:ext cx="35204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3296" y="1828800"/>
            <a:ext cx="50292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75104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5D99"/>
                </a:solidFill>
                <a:latin typeface="Consola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578608"/>
            <a:ext cx="3154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alerts SUPPRESSED for want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of evidence, not downgraded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B1E21"/>
                </a:solidFill>
                <a:latin typeface="Calibri"/>
              </a:rPr>
              <a:t>Calibrating the confidence broke our own alerting — and that was the finding.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50208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>
                <a:solidFill>
                  <a:srgbClr val="5A6067"/>
                </a:solidFill>
                <a:latin typeface="Calibri"/>
              </a:rPr>
              <a:t>Uncalibrated, the detector claimed ~1.0 confidence and everything got through. Calibrated, it sits at the honest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A6067"/>
                </a:solidFill>
                <a:latin typeface="Calibri"/>
              </a:rPr>
              <a:t>hit rate near 0.11 — and the same threshold silenced every alert. The system went quiet precisely because it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A6067"/>
                </a:solidFill>
                <a:latin typeface="Calibri"/>
              </a:rPr>
              <a:t>became truthful. So we stopped gating on the probability of being exactly right, and started gating on the cost</a:t>
            </a:r>
          </a:p>
          <a:p>
            <a:pPr algn="l">
              <a:lnSpc>
                <a:spcPct val="132000"/>
              </a:lnSpc>
            </a:pPr>
            <a:r>
              <a:rPr sz="1350" b="0">
                <a:solidFill>
                  <a:srgbClr val="5A6067"/>
                </a:solidFill>
                <a:latin typeface="Calibri"/>
              </a:rPr>
              <a:t>of being ignored. That is our "regret, not accuracy" principle moved out of the evaluation and into the product.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349240"/>
            <a:ext cx="1090879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349240"/>
            <a:ext cx="50292" cy="82296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486400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E21"/>
                </a:solidFill>
                <a:latin typeface="Calibri"/>
              </a:rPr>
              <a:t>We also killed one of our own mechanisms: overtake-risk predicted a bottleneck 5.9% of the time [1.0–27.0, n=17]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B1E21"/>
                </a:solidFill>
                <a:latin typeface="Calibri"/>
              </a:rPr>
              <a:t>while claiming 70–100% confidence. It is gone from the live path. Negative results get equal billing.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COMPLEXITY 4 · DEFECTS FOUND 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Two tools. Same symptom. Opposite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3619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A6067"/>
                </a:solidFill>
                <a:latin typeface="Calibri"/>
              </a:rPr>
              <a:t>Both present identically to a torque-only monitor: "the reading moved".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38528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38528"/>
            <a:ext cx="50292" cy="13716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1E21"/>
                </a:solidFill>
                <a:latin typeface="Consolas"/>
              </a:rPr>
              <a:t>S05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57984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3261E"/>
                </a:solidFill>
                <a:latin typeface="Calibri"/>
              </a:rPr>
              <a:t>REAL WEAR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3969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SERVICE the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96896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7"/>
                </a:solidFill>
                <a:latin typeface="Consolas"/>
              </a:rPr>
              <a:t>torque −3.6σ  ·  current −4.1σ  ·  angle +6.0σ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067"/>
                </a:solidFill>
                <a:latin typeface="Calibri"/>
              </a:rPr>
              <a:t>both look like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067"/>
                </a:solidFill>
                <a:latin typeface="Calibri"/>
              </a:rPr>
              <a:t>"the torque moved"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11296"/>
            <a:ext cx="1090879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11296"/>
            <a:ext cx="50292" cy="137160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75887"/>
            <a:ext cx="914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1E21"/>
                </a:solidFill>
                <a:latin typeface="Consolas"/>
              </a:rPr>
              <a:t>S06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307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C5D99"/>
                </a:solidFill>
                <a:latin typeface="Calibri"/>
              </a:rPr>
              <a:t>SENSOR LYING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712463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RECALIBRATE only — do NOT 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69663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A6067"/>
                </a:solidFill>
                <a:latin typeface="Consolas"/>
              </a:rPr>
              <a:t>torque −2.9σ  ·  current +0.5σ  ·  angle −0.2σ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2452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067"/>
                </a:solidFill>
                <a:latin typeface="Calibri"/>
              </a:rPr>
              <a:t>both look like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5A6067"/>
                </a:solidFill>
                <a:latin typeface="Calibri"/>
              </a:rPr>
              <a:t>"the torque moved"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Servicing a lying sensor scraps good parts and fixes nothing.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Onset is read backwards off the CUSUM accumulator — dated to +2 minutes of truth — then the VIN thread lists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exactly which vehicles carry it: 202 through S05, 48 still on the line, 154 already completed. 70.5% of alarmed tools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get an actionable diagnosis [67.9–72.9, n=1,246].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COMPLEXITY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Three users. One twin. Proven, not asserted.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8308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2029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Floor supervisor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5D99"/>
                </a:solidFill>
                <a:latin typeface="Calibri"/>
              </a:rPr>
              <a:t>real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88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ISA-101: grey base, colour only on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deviation. Quiet until something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is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78308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61688" y="1783080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29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Plant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395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5D99"/>
                </a:solidFill>
                <a:latin typeface="Calibri"/>
              </a:rPr>
              <a:t>weekly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788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A constraint-occupancy distribution,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deliberately not an average —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the constraint moves ~20×/shift.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783080"/>
            <a:ext cx="35204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783080"/>
            <a:ext cx="352044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2029968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1E21"/>
                </a:solidFill>
                <a:latin typeface="Calibri"/>
              </a:rPr>
              <a:t>Leadership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3957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C5D99"/>
                </a:solidFill>
                <a:latin typeface="Calibri"/>
              </a:rPr>
              <a:t>investment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27889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Value and coverage, every figure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A6067"/>
                </a:solidFill>
                <a:latin typeface="Calibri"/>
              </a:rPr>
              <a:t>naming the file that produced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90879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97680"/>
            <a:ext cx="50292" cy="1508760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498848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2D6A4F"/>
                </a:solidFill>
                <a:latin typeface="Calibri"/>
              </a:rPr>
              <a:t>The reconciliation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Each level totals independently and is compared: 6,730 constraint-minutes and 4,431 vehicles — identical across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supervisor records, manager weeks and leadership. That is how you show three views are one twin rather than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5A6067"/>
                </a:solidFill>
                <a:latin typeface="Calibri"/>
              </a:rPr>
              <a:t>three dashboards that happen to sit in the same 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C5D99"/>
                </a:solidFill>
                <a:latin typeface="Calibri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B1E21"/>
                </a:solidFill>
                <a:latin typeface="Calibri"/>
              </a:rPr>
              <a:t>Shadow first. Never closed-loop.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2057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5D99"/>
                </a:solidFill>
                <a:latin typeface="Consola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1E21"/>
                </a:solidFill>
                <a:latin typeface="Calibri"/>
              </a:rPr>
              <a:t>Shadow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889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5D99"/>
                </a:solidFill>
                <a:latin typeface="Calibri"/>
              </a:rPr>
              <a:t>wk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Subscribe to streams the plant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already discards. No writes.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71215" y="1828800"/>
            <a:ext cx="2057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71215" y="1828800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5D99"/>
                </a:solidFill>
                <a:latin typeface="Consola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1E21"/>
                </a:solidFill>
                <a:latin typeface="Calibri"/>
              </a:rPr>
              <a:t>One supervisor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7889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5D99"/>
                </a:solidFill>
                <a:latin typeface="Calibri"/>
              </a:rPr>
              <a:t>wk 5–10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One line, one shift, one screen.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Every alert confirmed by a person.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02352" y="1828800"/>
            <a:ext cx="2057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02352" y="1828800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2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5D99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1E21"/>
                </a:solidFill>
                <a:latin typeface="Calibri"/>
              </a:rPr>
              <a:t>Floor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27889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5D99"/>
                </a:solidFill>
                <a:latin typeface="Calibri"/>
              </a:rPr>
              <a:t>mo 3–6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All shifts. Manager view opens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for planning.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1828800"/>
            <a:ext cx="2057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33488" y="1828800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5D99"/>
                </a:solidFill>
                <a:latin typeface="Consola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1E21"/>
                </a:solidFill>
                <a:latin typeface="Calibri"/>
              </a:rPr>
              <a:t>Retrofit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7" y="27889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5D99"/>
                </a:solidFill>
                <a:latin typeface="Calibri"/>
              </a:rPr>
              <a:t>next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7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Costed sensor list, installed at a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scheduled shutdown.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64624" y="1828800"/>
            <a:ext cx="2057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64624" y="1828800"/>
            <a:ext cx="2057400" cy="45720"/>
          </a:xfrm>
          <a:prstGeom prst="rect">
            <a:avLst/>
          </a:prstGeom>
          <a:solidFill>
            <a:srgbClr val="1C5D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3" y="2011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5D99"/>
                </a:solidFill>
                <a:latin typeface="Consola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3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1B1E21"/>
                </a:solidFill>
                <a:latin typeface="Calibri"/>
              </a:rPr>
              <a:t>Second 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47503" y="2788920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C5D99"/>
                </a:solidFill>
                <a:latin typeface="Calibri"/>
              </a:rPr>
              <a:t>mo 6–12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3" y="31089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Transfer. Report the commissioning</a:t>
            </a:r>
          </a:p>
          <a:p>
            <a:pPr algn="l">
              <a:lnSpc>
                <a:spcPct val="125000"/>
              </a:lnSpc>
            </a:pPr>
            <a:r>
              <a:rPr sz="1050" b="0">
                <a:solidFill>
                  <a:srgbClr val="5A6067"/>
                </a:solidFill>
                <a:latin typeface="Calibri"/>
              </a:rPr>
              <a:t>curve, not a yes/no.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34840"/>
            <a:ext cx="10908792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434840"/>
            <a:ext cx="50292" cy="685800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59028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E21"/>
                </a:solidFill>
                <a:latin typeface="Calibri"/>
              </a:rPr>
              <a:t>Never: closed-loop write to line control. The twin advises; a person decides.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6067"/>
                </a:solidFill>
                <a:latin typeface="Calibri"/>
              </a:rPr>
              <a:t>What we deliberately did not do:  operator variation — excluded on ethical grounds, we measure the station, never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5A6067"/>
                </a:solidFill>
                <a:latin typeface="Calibri"/>
              </a:rPr>
              <a:t>the person.  ·  equipment vintage — no data axis for it.  ·  a CONWIP lead-time figure — no source file, so it does not appear.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371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The plant already has the data.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9FB3C4"/>
                </a:solidFill>
                <a:latin typeface="Calibri"/>
              </a:rPr>
              <a:t>What it has been missing is a model that connects it to cause,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9FB3C4"/>
                </a:solidFill>
                <a:latin typeface="Calibri"/>
              </a:rPr>
              <a:t>consequence, and the next best action.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520440"/>
            <a:ext cx="1371600" cy="41148"/>
          </a:xfrm>
          <a:prstGeom prst="rect">
            <a:avLst/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903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3C4"/>
                </a:solidFill>
                <a:latin typeface="Calibri"/>
              </a:rPr>
              <a:t>shifts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79" y="39776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15.5%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79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3C4"/>
                </a:solidFill>
                <a:latin typeface="Calibri"/>
              </a:rPr>
              <a:t>warnings on dark stations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776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0.025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3C4"/>
                </a:solidFill>
                <a:latin typeface="Calibri"/>
              </a:rPr>
              <a:t>calibration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19" y="39776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onsolas"/>
              </a:rPr>
              <a:t>70.5%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19" y="45262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>
                <a:solidFill>
                  <a:srgbClr val="9FB3C4"/>
                </a:solidFill>
                <a:latin typeface="Calibri"/>
              </a:rPr>
              <a:t>tools actionably diagnosed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3949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9FB3C4"/>
                </a:solidFill>
                <a:latin typeface="Calibri"/>
              </a:rPr>
              <a:t>Every number here is measured, with its source file named — including the ones that got worse</a:t>
            </a:r>
          </a:p>
          <a:p>
            <a:pPr algn="l">
              <a:lnSpc>
                <a:spcPct val="135000"/>
              </a:lnSpc>
            </a:pPr>
            <a:r>
              <a:rPr sz="1350" b="0">
                <a:solidFill>
                  <a:srgbClr val="9FB3C4"/>
                </a:solidFill>
                <a:latin typeface="Calibri"/>
              </a:rPr>
              <a:t>when we looked harder, and the mechanism we killed.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39595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10512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1428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52344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23260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4176" y="6263640"/>
            <a:ext cx="420624" cy="320040"/>
          </a:xfrm>
          <a:prstGeom prst="rect">
            <a:avLst/>
          </a:prstGeom>
          <a:solidFill>
            <a:srgbClr val="C8A415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241F00"/>
                </a:solidFill>
                <a:latin typeface="Consolas"/>
              </a:rPr>
              <a:t>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5091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36008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06924" y="6263640"/>
            <a:ext cx="420624" cy="320040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48756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19672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0588" y="6263640"/>
            <a:ext cx="420624" cy="320040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61504" y="6263640"/>
            <a:ext cx="420624" cy="320040"/>
          </a:xfrm>
          <a:prstGeom prst="rect">
            <a:avLst/>
          </a:prstGeom>
          <a:solidFill>
            <a:srgbClr val="B6BCC2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6B7076"/>
                </a:solidFill>
                <a:latin typeface="Consolas"/>
              </a:rPr>
              <a:t>15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32420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03336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74252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45167" y="6263640"/>
            <a:ext cx="420624" cy="320040"/>
          </a:xfrm>
          <a:prstGeom prst="rect">
            <a:avLst/>
          </a:prstGeom>
          <a:solidFill>
            <a:srgbClr val="DDE2E6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A6067"/>
                </a:solidFill>
                <a:latin typeface="Consolas"/>
              </a:rPr>
              <a:t>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16084" y="6263640"/>
            <a:ext cx="420624" cy="320040"/>
          </a:xfrm>
          <a:prstGeom prst="rect">
            <a:avLst/>
          </a:prstGeom>
          <a:solidFill>
            <a:srgbClr val="B3261E"/>
          </a:solidFill>
          <a:ln w="9525">
            <a:solidFill>
              <a:srgbClr val="C3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onsolas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