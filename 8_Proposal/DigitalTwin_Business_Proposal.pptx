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916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DigitalTwin.ai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974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FB3C4"/>
                </a:solidFill>
                <a:latin typeface="Calibri"/>
              </a:rPr>
              <a:t>A vehicle assembly line that tells you which station is costing you cars —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FB3C4"/>
                </a:solidFill>
                <a:latin typeface="Calibri"/>
              </a:rPr>
              <a:t>and what to do about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611880"/>
            <a:ext cx="1371600" cy="4114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FB3C4"/>
                </a:solidFill>
                <a:latin typeface="Calibri"/>
              </a:rPr>
              <a:t>Detailed Business Proposal  ·  Team HipHipHooray  ·  Sagar Sahu, Priyansh Goyal  ·  IIT Kharagpur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FB3C4"/>
                </a:solidFill>
                <a:latin typeface="Calibri"/>
              </a:rPr>
              <a:t>Accenture Innovation Challenge 2026  ·  Problem Track 4  · 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9D6E2"/>
                </a:solidFill>
                <a:latin typeface="Calibri"/>
              </a:rPr>
              <a:t>The one-line claim: a plant already emits enough data to say which station is costing you cars right now,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9D6E2"/>
                </a:solidFill>
                <a:latin typeface="Calibri"/>
              </a:rPr>
              <a:t>which one is about to, and what to do about it — on a line where nearly a fifth of the stations have no sensors at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9595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0512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1428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2344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3260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94176" y="5852160"/>
            <a:ext cx="420624" cy="457200"/>
          </a:xfrm>
          <a:prstGeom prst="rect">
            <a:avLst/>
          </a:prstGeom>
          <a:solidFill>
            <a:srgbClr val="C8A415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41F00"/>
                </a:solidFill>
                <a:latin typeface="Consolas"/>
              </a:rPr>
              <a:t>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5091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36008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6924" y="5852160"/>
            <a:ext cx="420624" cy="457200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8756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9672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0588" y="5852160"/>
            <a:ext cx="420624" cy="457200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61504" y="5852160"/>
            <a:ext cx="420624" cy="457200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2420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3336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74252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5167" y="58521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16084" y="5852160"/>
            <a:ext cx="420624" cy="457200"/>
          </a:xfrm>
          <a:prstGeom prst="rect">
            <a:avLst/>
          </a:prstGeom>
          <a:solidFill>
            <a:srgbClr val="B3261E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THE CLAIM,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We built the loop, ran it for 903 shifts.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5A6067"/>
                </a:solidFill>
                <a:latin typeface="Calibri"/>
              </a:rPr>
              <a:t>Every number in this proposal is measured against held-out ground truth, with its source file named.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0292" cy="18288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31136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C5D99"/>
                </a:solidFill>
                <a:latin typeface="Consolas"/>
              </a:rPr>
              <a:t>15.5%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79776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of forming-bottleneck warnings name a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station with no sensors at all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[15.0–15.9], n=29,060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7" y="210312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7" y="2103120"/>
            <a:ext cx="50292" cy="1828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2231136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D6A4F"/>
                </a:solidFill>
                <a:latin typeface="Consolas"/>
              </a:rPr>
              <a:t>0.025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779776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calibration error (ECE) after fitting,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from 0.479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600 held-out samples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210312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2103120"/>
            <a:ext cx="50292" cy="18288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231136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C5D99"/>
                </a:solidFill>
                <a:latin typeface="Consolas"/>
              </a:rPr>
              <a:t>70.5%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779776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of alarmed tools get an actionable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diagnosis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[67.9–72.9], n=1,246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3" y="210312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3" y="2103120"/>
            <a:ext cx="50292" cy="1828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2231136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D6A4F"/>
                </a:solidFill>
                <a:latin typeface="Consolas"/>
              </a:rPr>
              <a:t>903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2779776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shifts replayed through the live loop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86,742 decisions recorded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Three things make the problem hard, and they are the three the brief names.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09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709160"/>
            <a:ext cx="3520440" cy="4114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8920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E21"/>
                </a:solidFill>
                <a:latin typeface="Calibri"/>
              </a:rPr>
              <a:t>The constraint moves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23036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067"/>
                </a:solidFill>
                <a:latin typeface="Calibri"/>
              </a:rPr>
              <a:t>~20 times per shift. A weekly average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067"/>
                </a:solidFill>
                <a:latin typeface="Calibri"/>
              </a:rPr>
              <a:t>describes no moment of the shift it covers.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4709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1688" y="4709160"/>
            <a:ext cx="3520440" cy="41148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2856" y="48920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E21"/>
                </a:solidFill>
                <a:latin typeface="Calibri"/>
              </a:rPr>
              <a:t>Utilisation 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523036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067"/>
                </a:solidFill>
                <a:latin typeface="Calibri"/>
              </a:rPr>
              <a:t>A blocked station and a slow station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067"/>
                </a:solidFill>
                <a:latin typeface="Calibri"/>
              </a:rPr>
              <a:t>both read ~95% busy.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4709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4709160"/>
            <a:ext cx="3520440" cy="41148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8920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E21"/>
                </a:solidFill>
                <a:latin typeface="Calibri"/>
              </a:rPr>
              <a:t>The data is uneven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523036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067"/>
                </a:solidFill>
                <a:latin typeface="Calibri"/>
              </a:rPr>
              <a:t>Legacy and modern equipment mixed.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A6067"/>
                </a:solidFill>
                <a:latin typeface="Calibri"/>
              </a:rPr>
              <a:t>Some stations emit nothing at all.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§1 · Problem framing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§2.1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We built a plant, because no student team gets a real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067"/>
                </a:solidFill>
                <a:latin typeface="Calibri"/>
              </a:rPr>
              <a:t>A software plant simulating a mixed-model line — buffers, tool wear, breakdowns, the rework loop, shift breaks,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067"/>
                </a:solidFill>
                <a:latin typeface="Calibri"/>
              </a:rPr>
              <a:t>a mid-shift changeover sweep, operator andon stops. The elements a practitioner notices missing from a toy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A6067"/>
                </a:solidFill>
                <a:latin typeface="Calibri"/>
              </a:rPr>
              <a:t>model, not just the happy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349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349240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  <a:latin typeface="Calibri"/>
              </a:rPr>
              <a:t>OBSERVED — what the twin may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48463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Exactly what a real plant's sensors and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paperwork would produce — the five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streams in the integration slide.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2331720"/>
            <a:ext cx="5349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2331720"/>
            <a:ext cx="5349240" cy="457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5420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  <a:latin typeface="Calibri"/>
              </a:rPr>
              <a:t>HIDDEN — sealed off from the 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926080"/>
            <a:ext cx="48463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Which fault was injected, the true onset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minute, every micro-stop, which tools are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actually worn. Enforced by a test that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checks no observed file carries a truth column.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That separation is the whole point: it turns “does this work” from an opinion into a score.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7492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074920"/>
            <a:ext cx="45720" cy="105156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1937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162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5778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067"/>
                </a:solidFill>
                <a:latin typeface="Calibri"/>
              </a:rPr>
              <a:t>shifts simulated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067"/>
                </a:solidFill>
                <a:latin typeface="Calibri"/>
              </a:rPr>
              <a:t>156 single + 6 three-shift sequences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507492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47287" y="5074920"/>
            <a:ext cx="45720" cy="105156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51937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55778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067"/>
                </a:solidFill>
                <a:latin typeface="Calibri"/>
              </a:rPr>
              <a:t>line layouts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067"/>
                </a:solidFill>
                <a:latin typeface="Calibri"/>
              </a:rPr>
              <a:t>15–30 stations, one with a parallel pair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507492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5074920"/>
            <a:ext cx="45720" cy="105156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51937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972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55778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067"/>
                </a:solidFill>
                <a:latin typeface="Calibri"/>
              </a:rPr>
              <a:t>tools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067"/>
                </a:solidFill>
                <a:latin typeface="Calibri"/>
              </a:rPr>
              <a:t>across 8 fault conditions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61703" y="507492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61703" y="5074920"/>
            <a:ext cx="45720" cy="105156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3" y="51937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5×12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3" y="557784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067"/>
                </a:solidFill>
                <a:latin typeface="Calibri"/>
              </a:rPr>
              <a:t>injected fault kinds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067"/>
                </a:solidFill>
                <a:latin typeface="Calibri"/>
              </a:rPr>
              <a:t>+60 no-fault runs for false alarms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§2.1 · Source: docs/dataset/v5_dataset.md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§2.2–2.3 · SOLUTION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A twin, not a shadow — and four tiers of knowledge, never mixed.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Kritzinger's taxonomy: a model is offline, a shadow receives data one-way, a twin closes the loop. Our prototype ingests,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detects, ranks, prescribes and re-reads on a timer — causality enforced structurally: the detector is handed a view of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the run truncated at now, so it cannot read the future even by accident. Verified identical verdicts at 13/13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timepoints against the full-history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8036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880360"/>
            <a:ext cx="260604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0358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A —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20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The station reports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1605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C5D99"/>
                </a:solidFill>
                <a:latin typeface="Calibri"/>
              </a:rPr>
              <a:t>PLC state, scans, tool telemetry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7" y="288036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7" y="2880360"/>
            <a:ext cx="2606040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30358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B — Inferred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520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Bracketed between neighbours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41605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D6A4F"/>
                </a:solidFill>
                <a:latin typeface="Calibri"/>
              </a:rPr>
              <a:t>Boundary timestamps, buffer slope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88036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880360"/>
            <a:ext cx="2606040" cy="457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0358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C — Attested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520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A person says 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605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A415"/>
                </a:solidFill>
                <a:latin typeface="Calibri"/>
              </a:rPr>
              <a:t>Manual checklist entry, with entry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3" y="288036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3" y="2880360"/>
            <a:ext cx="2606040" cy="45720"/>
          </a:xfrm>
          <a:prstGeom prst="rect">
            <a:avLst/>
          </a:prstGeom>
          <a:solidFill>
            <a:srgbClr val="5A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3" y="30358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D — Predicted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3" y="3520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Projected under current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3" y="41605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Buffer countdown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1E21"/>
                </a:solidFill>
                <a:latin typeface="Calibri"/>
              </a:rPr>
              <a:t>Every value on screen carries its tier. An operator must never see an inferred number and a measured one in the same font.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§2.2 · §2.3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COMPLEXITY 1 · UNEVEN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It names stations that have no sensors.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26464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4248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2032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9816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691640"/>
            <a:ext cx="502920" cy="566928"/>
          </a:xfrm>
          <a:prstGeom prst="rect">
            <a:avLst/>
          </a:prstGeom>
          <a:solidFill>
            <a:srgbClr val="C8A415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41F00"/>
                </a:solidFill>
                <a:latin typeface="Consolas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88736" y="1691640"/>
            <a:ext cx="502920" cy="566928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4304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62088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691640"/>
            <a:ext cx="502920" cy="566928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6" y="1691640"/>
            <a:ext cx="502920" cy="566928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3224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51008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08792" y="169164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66576" y="1691640"/>
            <a:ext cx="502920" cy="566928"/>
          </a:xfrm>
          <a:prstGeom prst="rect">
            <a:avLst/>
          </a:prstGeom>
          <a:solidFill>
            <a:srgbClr val="B3261E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3957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067"/>
                </a:solidFill>
                <a:latin typeface="Calibri"/>
              </a:rPr>
              <a:t>hatched = no sensors at all   ·   red = the constraint   ·   amber = forming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9260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2926080"/>
            <a:ext cx="50292" cy="169164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05409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5D99"/>
                </a:solidFill>
                <a:latin typeface="Consolas"/>
              </a:rPr>
              <a:t>15.5%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602736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of all forming-bottleneck warnings name a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station with zero instrumentation   [15.0–15.9]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n=29,060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29260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2926080"/>
            <a:ext cx="50292" cy="16916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305409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B3261E"/>
                </a:solidFill>
                <a:latin typeface="Consolas"/>
              </a:rPr>
              <a:t>2.76%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3602736"/>
            <a:ext cx="3154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of vehicles a manual checklist PASSED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went on to fail end-of-line   ·   96.51% pass rate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n=31,329 checklist entries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999232"/>
            <a:ext cx="35204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2D6A4F"/>
                </a:solidFill>
                <a:latin typeface="Calibri"/>
              </a:rPr>
              <a:t>Body + final assembly:</a:t>
            </a:r>
          </a:p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2D6A4F"/>
                </a:solidFill>
                <a:latin typeface="Calibri"/>
              </a:rPr>
              <a:t>75.3% instrumented,</a:t>
            </a:r>
          </a:p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2D6A4F"/>
                </a:solidFill>
                <a:latin typeface="Calibri"/>
              </a:rPr>
              <a:t>24.7% on manual checks —</a:t>
            </a:r>
          </a:p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2D6A4F"/>
                </a:solidFill>
                <a:latin typeface="Calibri"/>
              </a:rPr>
              <a:t>an exact match to the</a:t>
            </a:r>
          </a:p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2D6A4F"/>
                </a:solidFill>
                <a:latin typeface="Calibri"/>
              </a:rPr>
              <a:t>brief's own reference</a:t>
            </a:r>
          </a:p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2D6A4F"/>
                </a:solidFill>
                <a:latin typeface="Calibri"/>
              </a:rPr>
              <a:t>parameters.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846320"/>
            <a:ext cx="109087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A checklist reading near-100% against a non-zero EOL failure rate is measuring compliance with the checklist,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not quality. Manual checks enter as a fourth data tier — attested — carrying the entry latency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(mean 4.8 min), because a human record does not exist until someone types it in.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§5 · Complexity 1 — Demonstrated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§2.4–2.5 · FROM DETECTION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It does not just report. It prescribes.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2606040" cy="777240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007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E21"/>
                </a:solidFill>
                <a:latin typeface="Calibri"/>
              </a:rPr>
              <a:t>DESCRIPTIVE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751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067"/>
                </a:solidFill>
                <a:latin typeface="Calibri"/>
              </a:rPr>
              <a:t>what happened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7287" y="1572768"/>
            <a:ext cx="2606040" cy="777240"/>
          </a:xfrm>
          <a:prstGeom prst="rect">
            <a:avLst/>
          </a:prstGeom>
          <a:solidFill>
            <a:srgbClr val="C3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7007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E21"/>
                </a:solidFill>
                <a:latin typeface="Calibri"/>
              </a:rPr>
              <a:t>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19751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067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1572768"/>
            <a:ext cx="2606040" cy="777240"/>
          </a:xfrm>
          <a:prstGeom prst="rect">
            <a:avLst/>
          </a:prstGeom>
          <a:solidFill>
            <a:srgbClr val="7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7007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B1E21"/>
                </a:solidFill>
                <a:latin typeface="Calibri"/>
              </a:rPr>
              <a:t>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751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067"/>
                </a:solidFill>
                <a:latin typeface="Calibri"/>
              </a:rPr>
              <a:t>what is about 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61703" y="1572768"/>
            <a:ext cx="2606040" cy="77724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3" y="17007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PRESCRIPTIVE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3" y="19751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what to 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06040"/>
            <a:ext cx="109087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606040"/>
            <a:ext cx="50292" cy="1188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432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1E21"/>
                </a:solidFill>
                <a:latin typeface="Calibri"/>
              </a:rPr>
              <a:t>S20 — Tool change / maintenance pull-forward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089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processing time is climbing against this station's own baseline   ·   margin 71.8 s   ·   next best S12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Leaving it alone costs ≈ 0.73 vehicles over the median 10-minute episode.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The alert contract — an alert may be raised only if it carries all five of: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70832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70832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Candidate</a:t>
            </a:r>
          </a:p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+ margin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71215" y="4370832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08375" y="4370832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2" y="4370832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9512" y="4370832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Persistence</a:t>
            </a:r>
          </a:p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estimate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4370832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4370832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Recommended</a:t>
            </a:r>
          </a:p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4624" y="4370832"/>
            <a:ext cx="2057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01784" y="4370832"/>
            <a:ext cx="17830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Cost of not</a:t>
            </a:r>
          </a:p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C5D99"/>
                </a:solidFill>
                <a:latin typeface="Calibri"/>
              </a:rPr>
              <a:t>acting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1090879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An alert that cannot state its evidence is suppressed, not downgraded — a quiet alert with no evidence is still noise,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and noise is what erodes floor trust. 7 alerts were suppressed by this rule in the recorded run.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§2.4 · §2.5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§2.6 · INTEGRATION &amp; THE READ-ONLY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Five streams a plant already produces. Nothing else.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0879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51383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D4D5A"/>
                          </a:solidFill>
                          <a:latin typeface="Calibri"/>
                        </a:rPr>
                        <a:t>WHAT THE LIVE TWIN READS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D4D5A"/>
                          </a:solidFill>
                          <a:latin typeface="Calibri"/>
                        </a:rPr>
                        <a:t>WHERE A PLANT ALREADY HAS IT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Unit scans — VIN, station, timestamp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Barcode/RFID readers at station boundaries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Station state transitions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PLC state tags, already historised for OEE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Buffer levels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Conveyor counters and occupancy sensors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Tool readings — torque, angle, current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Nutrunner controllers over Open Protocol / OPC-UA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Manual checks — result and latency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E21"/>
                          </a:solidFill>
                          <a:latin typeface="Calibri"/>
                        </a:rPr>
                        <a:t>The paper or tablet checklist at a dark station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3977639"/>
            <a:ext cx="109087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50292" cy="9601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33087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The boundary is enforced, not promised. Exactly two modules may write anything, both to the twin's own store.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No module may import a network client — checked by a test that walks every module's syntax tree; verified by planting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a PLC write and confirming it was caught.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90879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50292" cy="100584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What stands between this and a live line: one adapter. The prototype reads these streams from files today —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nothing else. Shadow mode already works: point the replay driver at a plant's exported logs and the entire twin runs,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with no live connection of any kind.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§2.6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§3 · TARGET USERS — COMPLEXITY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Three users. One twin. Proven, not asserted.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72768"/>
            <a:ext cx="3520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352044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E21"/>
                </a:solidFill>
                <a:latin typeface="Calibri"/>
              </a:rPr>
              <a:t>Floor 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579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5D99"/>
                </a:solidFill>
                <a:latin typeface="Calibri"/>
              </a:rPr>
              <a:t>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42032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ISA-101: grey base, colour only on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deviation. Quiet until something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is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572768"/>
            <a:ext cx="3520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572768"/>
            <a:ext cx="352044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1051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E21"/>
                </a:solidFill>
                <a:latin typeface="Calibri"/>
              </a:rPr>
              <a:t>Plant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579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5D99"/>
                </a:solidFill>
                <a:latin typeface="Calibri"/>
              </a:rPr>
              <a:t>weekly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42032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A constraint-occupancy distribution,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deliberately not an average —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the constraint moves ~20×/shift.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572768"/>
            <a:ext cx="3520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72768"/>
            <a:ext cx="352044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81051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E21"/>
                </a:solidFill>
                <a:latin typeface="Calibri"/>
              </a:rPr>
              <a:t>Leadership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579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5D99"/>
                </a:solidFill>
                <a:latin typeface="Calibri"/>
              </a:rPr>
              <a:t>investment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542032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Value and coverage, every figure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naming the file that produced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109087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50292" cy="14173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6A4F"/>
                </a:solidFill>
                <a:latin typeface="Calibri"/>
              </a:rPr>
              <a:t>The reconciliation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98848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Each level totals independently and is compared: 6,730 constraint-minutes and 4,431 vehicles — identical across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supervisor records, manager weeks and leadership. That is how you show three views are one twin rather than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three dashboards that happen to sit in the same app.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A6067"/>
                </a:solidFill>
                <a:latin typeface="Calibri"/>
              </a:rPr>
              <a:t>Colour is reserved for deviation on the plant HMI (ISA-101); the leadership view may use colour freely — it governs a</a:t>
            </a:r>
          </a:p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A6067"/>
                </a:solidFill>
                <a:latin typeface="Calibri"/>
              </a:rPr>
              <a:t>business dashboard, not a control-room screen.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§3 · Complexity 5 — Demonstrated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§4.1 ·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Measured against economic ground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067"/>
                </a:solidFill>
                <a:latin typeface="Calibri"/>
              </a:rPr>
              <a:t>Ground truth is the station whose speed-up actually produces more cars, not “which looked busiest”. Regret = cars lost per block. Lower is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025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Ours (effective 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020824"/>
            <a:ext cx="7589520" cy="31699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2020824"/>
            <a:ext cx="6209176" cy="316992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52760" y="200253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1.309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206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Active period (Roser)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538984"/>
            <a:ext cx="7589520" cy="31699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538984"/>
            <a:ext cx="6394170" cy="316992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52760" y="252069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1.348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388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Utilisation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057144"/>
            <a:ext cx="7589520" cy="31699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3057144"/>
            <a:ext cx="7006075" cy="31699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2760" y="303885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1.477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49039"/>
            <a:ext cx="5303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49039"/>
            <a:ext cx="50292" cy="14173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D6A4F"/>
                </a:solidFill>
                <a:latin typeface="Calibri"/>
              </a:rPr>
              <a:t>What we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We beat the utilisation baseline —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McNemar paired test, p = 0.0025, n = 202 blocks.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3749039"/>
            <a:ext cx="5303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3749039"/>
            <a:ext cx="50292" cy="14173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9136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B3261E"/>
                </a:solidFill>
                <a:latin typeface="Calibri"/>
              </a:rPr>
              <a:t>What we refuse to claim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25196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That we beat the active-period method.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p = 0.45 — statistically tied. Saying otherwise would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1E21"/>
                </a:solidFill>
                <a:latin typeface="Calibri"/>
              </a:rPr>
              <a:t>not survive one question.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49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Two independent findings say the same thing: a 0.79-car label-noise floor makes top-1 close to a coin flip in ~50% of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blocks, and across four topologies top-1 collapses 44.5% → 10.6% while regret holds 1.208–1.431. The operationally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meaningful metric transfers; the argmax metric does not — so regret is the headline, not accuracy.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§4.1 · §4.2 · Source: results/eval_v5.csv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§4.3 ·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Value, stated honestly — including the line we deleted.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08792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0"/>
                <a:gridCol w="222199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D4D5A"/>
                          </a:solidFill>
                          <a:latin typeface="Calibri"/>
                        </a:rPr>
                        <a:t>VALUE LINE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D4D5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E21"/>
                          </a:solidFill>
                          <a:latin typeface="Calibri"/>
                        </a:rPr>
                        <a:t>Fewer cars lost to a mis-identified constraint (regret 1.309 vs 1.477 utilisation, on a 2.271-car ceiling)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E21"/>
                          </a:solidFill>
                          <a:latin typeface="Calibri"/>
                        </a:rPr>
                        <a:t>Earlier warning: buffer countdown, 178 warnings, median error +0.57 min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E21"/>
                          </a:solidFill>
                          <a:latin typeface="Calibri"/>
                        </a:rPr>
                        <a:t>Avoided false scrap: transducer-drift tools flagged for recalibration, not repair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E21"/>
                          </a:solidFill>
                          <a:latin typeface="Calibri"/>
                        </a:rPr>
                        <a:t>Sensor spend avoided: 15.5% of forming warnings need no sensor at that station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D6A4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1E21"/>
                          </a:solidFill>
                          <a:latin typeface="Calibri"/>
                        </a:rPr>
                        <a:t>Lead-time reduction under CONWIP release control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B3261E"/>
                          </a:solidFill>
                          <a:latin typeface="Calibri"/>
                        </a:rPr>
                        <a:t>NOT measured — excluded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074920"/>
            <a:ext cx="1090879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50292" cy="10515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1B1E21"/>
                </a:solidFill>
                <a:latin typeface="Calibri"/>
              </a:rPr>
              <a:t>One value line has been deliberately removed. An earlier draft led with “same throughput, 36% lower lead time, zero capex” — no file in our results produces that number, so under our own rule it does not appear. Four defensible lines beat five with one that dies under a single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§4.3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§5 · COVERAGE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Handling the seven real-world complexities.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0879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017520"/>
                <a:gridCol w="6245352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4D5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4D5A"/>
                          </a:solidFill>
                          <a:latin typeface="Calibri"/>
                        </a:rPr>
                        <a:t>COMPLEXITY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4D5A"/>
                          </a:solidFill>
                          <a:latin typeface="Calibri"/>
                        </a:rPr>
                        <a:t>HOW WE ANSWER IT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D4D5A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Uneven sensor coverage; manual checklists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Dark stations bracketed and named; checklist honesty tested — 96.51% pass vs 2.76% real escape 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D6A4F"/>
                          </a:solidFill>
                          <a:latin typeface="Calibri"/>
                        </a:rPr>
                        <a:t>Demonstrated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Multi-causal, intermittent root causes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Separated by scope, not statistics. Operator variation excluded on ethical grounds — stated, not an oversight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8A415"/>
                          </a:solidFill>
                          <a:latin typeface="Calibri"/>
                        </a:rPr>
                        <a:t>Partly demonstrated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PLC risk; retrofits in maintenance windows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Read-only boundary enforced by a test. Retrofit list is a window-dated schedule ranked by exposure/rupee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D6A4F"/>
                          </a:solidFill>
                          <a:latin typeface="Calibri"/>
                        </a:rPr>
                        <a:t>Demonstrated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Early defect surfaces late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Onset read backwards off CUSUM, +2 min of truth; vehicles partitioned by on-line vs shipped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D6A4F"/>
                          </a:solidFill>
                          <a:latin typeface="Calibri"/>
                        </a:rPr>
                        <a:t>Demonstrated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Three stakeholder views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One record stream, three resolutions, reconciliation test passing exactly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D6A4F"/>
                          </a:solidFill>
                          <a:latin typeface="Calibri"/>
                        </a:rPr>
                        <a:t>Demonstrated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Scaling: layout, vintage, sensor maturity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Measured across 4 topologies incl. a parallel pair; vintage has no data axis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8A415"/>
                          </a:solidFill>
                          <a:latin typeface="Calibri"/>
                        </a:rPr>
                        <a:t>Mostly demonstrated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False alarms erode trust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B1E21"/>
                          </a:solidFill>
                          <a:latin typeface="Calibri"/>
                        </a:rPr>
                        <a:t>Confidence calibrated (ECE 0.479→0.025); 48.6 alerts/shift vs ISA-18.2 budget of 150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D6A4F"/>
                          </a:solidFill>
                          <a:latin typeface="Calibri"/>
                        </a:rPr>
                        <a:t>Demonstrated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08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2D6A4F"/>
                </a:solidFill>
                <a:latin typeface="Calibri"/>
              </a:rPr>
              <a:t>Against the brief's own reference parameters: body + final assembly sit at 75.3% instrumented / 24.7% manual — an exact match to “a majority well-instrumented, a meaningful minority on manual checks”.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COMPLEXITY 2 · MULTI-CAUSAL, INTERMITTENT ROOTS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Multi-causal roots: separated by scope, not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A6067"/>
                </a:solidFill>
                <a:latin typeface="Calibri"/>
              </a:rPr>
              <a:t>A bottleneck or defect rarely has one cause — equipment wear, upstream part quality, environmental drift can all move together.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A6067"/>
                </a:solidFill>
                <a:latin typeface="Calibri"/>
              </a:rPr>
              <a:t>Rather than chase correlation across noisy signals, we isolate by scope: who else is affected, and who is not. The prototype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5A6067"/>
                </a:solidFill>
                <a:latin typeface="Calibri"/>
              </a:rPr>
              <a:t>already separates fault classes the detector can distinguish — slowing, breakdown, starved, blocked — as the first cut.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97480"/>
            <a:ext cx="109087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50292" cy="15544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E21"/>
                </a:solidFill>
                <a:latin typeface="Calibri"/>
              </a:rPr>
              <a:t>Operator variation is deliberately excluded — on ethical grounds.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We measure the station, never the person. The brief names operator variation as a possible root cause; we choose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not to build a per-operator model. That is a design decision we state plainly, not a gap we hid.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8A415"/>
                </a:solidFill>
                <a:latin typeface="Calibri"/>
              </a:rPr>
              <a:t>State: partly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The fault-class separation the detector already performs is real and measured; the full co-occurrence / scope-isolation engine described in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our design notes is specified but not built — a multi-day build we chose not to spend against two graded documents that did not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yet exist. A missing complexity costs part of one criterion; a missing proposal costs a third of the submission.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§5 · Complexity 2 — Partly demonstrated; scope engine designed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COMPLEXITY 3 · MAINTENANCE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PLC risk: a window-dated retrofit schedule, not a wishlist.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A6067"/>
                </a:solidFill>
                <a:latin typeface="Calibri"/>
              </a:rPr>
              <a:t>The twin advises and never writes to line control — a read-only boundary in ISA-95 terms, shown on every screen.</a:t>
            </a:r>
          </a:p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A6067"/>
                </a:solidFill>
                <a:latin typeface="Calibri"/>
              </a:rPr>
              <a:t>Sensing additions mount externally and publish on a separate network, so no PLC program changes and no re-validation.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45720" cy="13716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C5D99"/>
                </a:solidFill>
                <a:latin typeface="Consolas"/>
              </a:rPr>
              <a:t>Ranked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632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exposure closed per rupee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— not a flat sensor 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42316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2423160"/>
            <a:ext cx="45720" cy="13716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5786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C5D99"/>
                </a:solidFill>
                <a:latin typeface="Consolas"/>
              </a:rPr>
              <a:t>2 shutdowns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30632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the retrofit list splits across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two scheduled maintenance windows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242316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423160"/>
            <a:ext cx="45720" cy="13716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57860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B3261E"/>
                </a:solidFill>
                <a:latin typeface="Consolas"/>
              </a:rPr>
              <a:t>~₹101,560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0632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cost of deferring, carried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for another six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109087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50292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87952"/>
            <a:ext cx="103327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B1E21"/>
                </a:solidFill>
                <a:latin typeface="Calibri"/>
              </a:rPr>
              <a:t>Never: closed-loop write to line control. Not a phase that arrives later — it is excluded from every phase of the roadmap.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B1E21"/>
                </a:solidFill>
                <a:latin typeface="Calibri"/>
              </a:rPr>
              <a:t>The integration boundary is enforced by a test that walks every module's syntax tree, not a policy written in a document.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§5 · Complexity 3 — Demonstrated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COMPLEXITY 4 · DEFECTS FOUND 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Two tools. Same symptom. Opposite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067"/>
                </a:solidFill>
                <a:latin typeface="Calibri"/>
              </a:rPr>
              <a:t>Both present identically to a torque-only monitor: “the reading moved”.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0879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0292" cy="129844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1E21"/>
                </a:solidFill>
                <a:latin typeface="Consolas"/>
              </a:rPr>
              <a:t>S05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2996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B3261E"/>
                </a:solidFill>
                <a:latin typeface="Calibri"/>
              </a:rPr>
              <a:t>REAL WEAR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116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SERVICE the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50592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067"/>
                </a:solidFill>
                <a:latin typeface="Consolas"/>
              </a:rPr>
              <a:t>torque −3.6σ  ·  current −4.1σ  ·  angle +6.0σ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both look like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"the torque moved"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0128"/>
            <a:ext cx="1090879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10128"/>
            <a:ext cx="50292" cy="1298448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1E21"/>
                </a:solidFill>
                <a:latin typeface="Consolas"/>
              </a:rPr>
              <a:t>S06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112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5D99"/>
                </a:solidFill>
                <a:latin typeface="Calibri"/>
              </a:rPr>
              <a:t>SENSOR LYING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93008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RECALIBRATE only — do NOT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067"/>
                </a:solidFill>
                <a:latin typeface="Consolas"/>
              </a:rPr>
              <a:t>torque −2.9σ  ·  current +0.5σ  ·  angle −0.2σ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6849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both look like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"the torque moved"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E21"/>
                </a:solidFill>
                <a:latin typeface="Calibri"/>
              </a:rPr>
              <a:t>Servicing a lying sensor scraps good parts and fixes nothing.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Onset is read backwards off the CUSUM accumulator — dated to +2 minutes of truth — then the VIN thread lists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exactly which vehicles carry it: 202 through S05, 48 still on the line, 154 already completed. 70.5% of alarmed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067"/>
                </a:solidFill>
                <a:latin typeface="Calibri"/>
              </a:rPr>
              <a:t>tools get an actionable diagnosis [67.9–72.9, n=1,246].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§5 · Complexity 4 — Demonstrated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COMPLEXITY 6 ·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Regret transfers. Accuracy does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A6067"/>
                </a:solidFill>
                <a:latin typeface="Calibri"/>
              </a:rPr>
              <a:t>The same method on four different line topologies — including one with a parallel pair that breaks the series assumption.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261E"/>
                </a:solidFill>
                <a:latin typeface="Calibri"/>
              </a:rPr>
              <a:t>TOP-1 ACCURACY  — collapses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225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L1  20 stn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340864"/>
            <a:ext cx="1920240" cy="176021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2340864"/>
            <a:ext cx="1709013" cy="176021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32257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44.5%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976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L2  30 stn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718054"/>
            <a:ext cx="1920240" cy="176021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718054"/>
            <a:ext cx="407090" cy="176021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69976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10.6%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769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L3  parallel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095244"/>
            <a:ext cx="1920240" cy="176021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3095244"/>
            <a:ext cx="529986" cy="176021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07695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13.8%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5414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L4  15 stn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472434"/>
            <a:ext cx="1920240" cy="176021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3472434"/>
            <a:ext cx="841065" cy="176021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45414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21.9%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9202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REGRET  — 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225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L1  20 stn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340864"/>
            <a:ext cx="1920240" cy="176021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2340864"/>
            <a:ext cx="1449781" cy="176021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52760" y="232257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1.208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69976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L2  30 stn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2718054"/>
            <a:ext cx="1920240" cy="176021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2718054"/>
            <a:ext cx="1461782" cy="176021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760" y="269976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1.218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769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L3  parallel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095244"/>
            <a:ext cx="1920240" cy="176021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3095244"/>
            <a:ext cx="1717414" cy="176021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307695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1.431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45414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B1E21"/>
                </a:solidFill>
                <a:latin typeface="Calibri"/>
              </a:rPr>
              <a:t>L4  15 stn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472434"/>
            <a:ext cx="1920240" cy="176021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0" y="3472434"/>
            <a:ext cx="1465383" cy="176021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52760" y="345414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1E21"/>
                </a:solidFill>
                <a:latin typeface="Consolas"/>
              </a:rPr>
              <a:t>1.221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977639"/>
            <a:ext cx="109087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3977639"/>
            <a:ext cx="50292" cy="128016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133087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1E21"/>
                </a:solidFill>
                <a:latin typeface="Calibri"/>
              </a:rPr>
              <a:t>Sensor maturity: zero PLC state tags costs +1.683 cars/block on L1 — but only +0.021 on L2.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5262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State tags matter enormously where a strong constraint exists, and almost not at all on a balanced line — so</a:t>
            </a:r>
          </a:p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5A6067"/>
                </a:solidFill>
                <a:latin typeface="Calibri"/>
              </a:rPr>
              <a:t>instrument the lines with the most to gain first, a more useful retrofit input than one averaged number.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440680"/>
            <a:ext cx="10908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3261E"/>
                </a:solidFill>
                <a:latin typeface="Calibri"/>
              </a:rPr>
              <a:t>Vintage: one of the three scaling axes the brief names, and we have no data axis for it — unmodelled, and stated.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§5 · §6 · Complexity 6 — Demonstrated (layout, sensor maturity); vintage unmodelled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COMPLEXITY 7 · FALSE ALARMS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The hard part is being trusted on day 30.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0292" cy="14173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2821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D6A4F"/>
                </a:solidFill>
                <a:latin typeface="Consolas"/>
              </a:rPr>
              <a:t>0.479 → 0.025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76856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calibration error (ECE)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before → after fitting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60020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600200"/>
            <a:ext cx="50292" cy="14173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72821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C5D99"/>
                </a:solidFill>
                <a:latin typeface="Consolas"/>
              </a:rPr>
              <a:t>48.6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276856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alerts per shift, against the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ISA-18.2 budget of 150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600200"/>
            <a:ext cx="50292" cy="14173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728216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C5D99"/>
                </a:solidFill>
                <a:latin typeface="Consola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276856"/>
            <a:ext cx="3154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alerts SUPPRESSED for want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of evidence, not downgraded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1E21"/>
                </a:solidFill>
                <a:latin typeface="Calibri"/>
              </a:rPr>
              <a:t>Calibrating the confidence broke our own alerting — and that was the finding.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Uncalibrated, the detector claimed ~1.0 confidence and everything got through. Calibrated, it sits at the honest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hit rate near 0.11 — and the same threshold silenced every alert. The system went quiet precisely because it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became truthful. So we stopped gating on the probability of being exactly right, and started gating on the cost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A6067"/>
                </a:solidFill>
                <a:latin typeface="Calibri"/>
              </a:rPr>
              <a:t>of being ignored — “regret, not accuracy” moved out of the evaluation and into the product.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908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50292" cy="8229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B1E21"/>
                </a:solidFill>
                <a:latin typeface="Calibri"/>
              </a:rPr>
              <a:t>We also killed one of our own mechanisms: overtake-risk predicted a bottleneck 5.9% of the time [1.0–27.0, n=17]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B1E21"/>
                </a:solidFill>
                <a:latin typeface="Calibri"/>
              </a:rPr>
              <a:t>while claiming 70–100% confidence. It is gone from the live path. Negative results get equal billing.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§5 · Complexity 7 — Demonstrated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§7 · PHASED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Shadow first. Never closed-loop.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A6067"/>
                </a:solidFill>
                <a:latin typeface="Calibri"/>
              </a:rPr>
              <a:t>Reads five streams the plant already produces. No new hardware on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057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1E21"/>
                </a:solidFill>
                <a:latin typeface="Calibri"/>
              </a:rPr>
              <a:t>Shadow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9806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5D99"/>
                </a:solidFill>
                <a:latin typeface="Calibri"/>
              </a:rPr>
              <a:t>wk 1–4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Subscribe to streams the plant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already discards. No writes.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1215" y="1874519"/>
            <a:ext cx="2057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1215" y="1874519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2057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5146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1E21"/>
                </a:solidFill>
                <a:latin typeface="Calibri"/>
              </a:rPr>
              <a:t>One 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79806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5D99"/>
                </a:solidFill>
                <a:latin typeface="Calibri"/>
              </a:rPr>
              <a:t>wk 5–10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One line, one shift, one screen.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Every alert confirmed by a person.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1874519"/>
            <a:ext cx="2057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2352" y="1874519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2057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25146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1E21"/>
                </a:solidFill>
                <a:latin typeface="Calibri"/>
              </a:rPr>
              <a:t>Floor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79806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5D99"/>
                </a:solidFill>
                <a:latin typeface="Calibri"/>
              </a:rPr>
              <a:t>mo 3–6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All shifts. Manager view opens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for planning.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3488" y="1874519"/>
            <a:ext cx="2057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33488" y="1874519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7" y="2057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7" y="25146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1E21"/>
                </a:solidFill>
                <a:latin typeface="Calibri"/>
              </a:rPr>
              <a:t>Retrofit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7" y="279806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5D99"/>
                </a:solidFill>
                <a:latin typeface="Calibri"/>
              </a:rPr>
              <a:t>next 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7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Costed sensor list, installed at a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scheduled shutdown.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4624" y="1874519"/>
            <a:ext cx="2057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4624" y="1874519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47503" y="2057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5D99"/>
                </a:solidFill>
                <a:latin typeface="Consola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3" y="25146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1E21"/>
                </a:solidFill>
                <a:latin typeface="Calibri"/>
              </a:rPr>
              <a:t>Second 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3" y="279806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C5D99"/>
                </a:solidFill>
                <a:latin typeface="Calibri"/>
              </a:rPr>
              <a:t>mo 6–12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3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Transfer. Report the commissioning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A6067"/>
                </a:solidFill>
                <a:latin typeface="Calibri"/>
              </a:rPr>
              <a:t>curve, not a yes/no.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343400"/>
            <a:ext cx="1090879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4343400"/>
            <a:ext cx="50292" cy="6858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9884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E21"/>
                </a:solidFill>
                <a:latin typeface="Calibri"/>
              </a:rPr>
              <a:t>Never: closed-loop write to line control — enforced by a test, not a promise.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40080" y="5257800"/>
          <a:ext cx="10908792" cy="1088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9312"/>
                <a:gridCol w="3639312"/>
                <a:gridCol w="3630168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D4D5A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D4D5A"/>
                          </a:solidFill>
                          <a:latin typeface="Calibri"/>
                        </a:rPr>
                        <a:t>GATE TO PASS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D4D5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0 · Shadow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Twin reproduces the plant's own throughput numbers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D6A4F"/>
                          </a:solidFill>
                          <a:latin typeface="Calibri"/>
                        </a:rPr>
                        <a:t>Executable today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3 · Retrofit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Measured coverage improvement matches the prediction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C5D99"/>
                          </a:solidFill>
                          <a:latin typeface="Calibri"/>
                        </a:rPr>
                        <a:t>Schedule ready — §5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HONESTY, NOT A GAP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What we deliberately did not 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0292" cy="777240"/>
          </a:xfrm>
          <a:prstGeom prst="rect">
            <a:avLst/>
          </a:prstGeom>
          <a:solidFill>
            <a:srgbClr val="5A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B1E21"/>
                </a:solidFill>
                <a:latin typeface="Calibri"/>
              </a:rPr>
              <a:t>Equipment vintage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73352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One of the three scaling axes the brief names — we have no data axis for it. Unmodelled, and stated.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50591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50591"/>
            <a:ext cx="50292" cy="777240"/>
          </a:xfrm>
          <a:prstGeom prst="rect">
            <a:avLst/>
          </a:prstGeom>
          <a:solidFill>
            <a:srgbClr val="5A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B1E21"/>
                </a:solidFill>
                <a:latin typeface="Calibri"/>
              </a:rPr>
              <a:t>Operator variation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69463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Excluded on ethical grounds. We measure the station, never the person.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46704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46704"/>
            <a:ext cx="50292" cy="777240"/>
          </a:xfrm>
          <a:prstGeom prst="rect">
            <a:avLst/>
          </a:prstGeom>
          <a:solidFill>
            <a:srgbClr val="5A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38144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B1E21"/>
                </a:solidFill>
                <a:latin typeface="Calibri"/>
              </a:rPr>
              <a:t>The CONWIP lead-time 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65576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Removed for want of a source file — an earlier draft claimed 36% lower lead time; no file in our results produces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42816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42816"/>
            <a:ext cx="50292" cy="777240"/>
          </a:xfrm>
          <a:prstGeom prst="rect">
            <a:avLst/>
          </a:prstGeom>
          <a:solidFill>
            <a:srgbClr val="5A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34255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B1E21"/>
                </a:solidFill>
                <a:latin typeface="Calibri"/>
              </a:rPr>
              <a:t>Closed-loop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61688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Outside what any plant grants a prototype, and outside what we would want to grant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38928"/>
            <a:ext cx="1090879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38928"/>
            <a:ext cx="50292" cy="777240"/>
          </a:xfrm>
          <a:prstGeom prst="rect">
            <a:avLst/>
          </a:prstGeom>
          <a:solidFill>
            <a:srgbClr val="5A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30368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B1E21"/>
                </a:solidFill>
                <a:latin typeface="Calibri"/>
              </a:rPr>
              <a:t>A historian / MES 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257800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5A6067"/>
                </a:solidFill>
                <a:latin typeface="Calibri"/>
              </a:rPr>
              <a:t>The prototype reads its input streams from files, not a live plant connection — the one deliberate gap before Phase 0 on a real 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E21"/>
                </a:solidFill>
                <a:latin typeface="Calibri"/>
              </a:rPr>
              <a:t>Every one of these is a decision we can defend, which is worth more than a claim we cannot.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C5D99"/>
                </a:solidFill>
                <a:latin typeface="Calibri"/>
              </a:rPr>
              <a:t>§8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E21"/>
                </a:solidFill>
                <a:latin typeface="Calibri"/>
              </a:rPr>
              <a:t>Key risks and mitigations.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08760"/>
          <a:ext cx="10908792" cy="4901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459943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D4D5A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D4D5A"/>
                          </a:solidFill>
                          <a:latin typeface="Calibri"/>
                        </a:rPr>
                        <a:t>WHY IT IS REAL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3D4D5A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36576" marB="36576" anchor="ctr">
                    <a:solidFill>
                      <a:srgbClr val="E8ECE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False alarms erode trust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The brief names it; it is how these systems die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Calibrated confidence (ECE 0.025), the five-field contract with suppression, a ledger showing running precision. 48.6/shift vs a 150 budget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Overconfidence in a weak signal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We have already been caught by this once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Measured our own overtake-risk mechanism at 5.9% correct [1.0–27.0] vs 70–100% claimed; declared it failed and removed 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Top-1 accuracy is misleading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0.79-car label-noise floor; argmax survives jitter in ~50% of blocks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Regret is the headline metric; top-1 reported with Wilson intervals alongside, never alone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Transfer may not hold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L2–L4 are 12 runs each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Stated as directional. Regret held 1.21–1.43 across four topologies; the commissioning curve is reported, not asserted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Touching production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Regulated, safety-certified control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Read-only by construction and enforced by a test that walks every module's syntax tree, not a policy in a document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Modelling people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Operator variation is a named cause and a real hazard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B1E21"/>
                          </a:solidFill>
                          <a:latin typeface="Calibri"/>
                        </a:rPr>
                        <a:t>Excluded by choice. We measure the station, never the person, and say so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5A6067"/>
                </a:solidFill>
                <a:latin typeface="Calibri"/>
              </a:rPr>
              <a:t>§8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plant already has the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9FB3C4"/>
                </a:solidFill>
                <a:latin typeface="Calibri"/>
              </a:rPr>
              <a:t>What it has been missing is a model that connects it to cause,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9FB3C4"/>
                </a:solidFill>
                <a:latin typeface="Calibri"/>
              </a:rPr>
              <a:t>consequence, and the next best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371600" cy="4114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nsolas"/>
              </a:rPr>
              <a:t>903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879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3C4"/>
                </a:solidFill>
                <a:latin typeface="Calibri"/>
              </a:rPr>
              <a:t>shifts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36576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nsolas"/>
              </a:rPr>
              <a:t>15.5%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41879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3C4"/>
                </a:solidFill>
                <a:latin typeface="Calibri"/>
              </a:rPr>
              <a:t>warnings on dark stations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nsolas"/>
              </a:rPr>
              <a:t>0.025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879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3C4"/>
                </a:solidFill>
                <a:latin typeface="Calibri"/>
              </a:rPr>
              <a:t>calibration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36576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nsolas"/>
              </a:rPr>
              <a:t>70.5%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41879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3C4"/>
                </a:solidFill>
                <a:latin typeface="Calibri"/>
              </a:rPr>
              <a:t>tools actionably diagnosed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9FB3C4"/>
                </a:solidFill>
                <a:latin typeface="Calibri"/>
              </a:rPr>
              <a:t>Every number here is measured, with its source file named — including the ones that got worse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9FB3C4"/>
                </a:solidFill>
                <a:latin typeface="Calibri"/>
              </a:rPr>
              <a:t>when we looked harder, and the mechanism we killed.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C8B99"/>
                </a:solidFill>
                <a:latin typeface="Consolas"/>
              </a:rPr>
              <a:t>github.com/sagar2907/HipHipHooray_IIT_Kharagpur_DigitalTwin.ai_Prototype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9595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10512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1428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52344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3260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94176" y="6126480"/>
            <a:ext cx="420624" cy="320040"/>
          </a:xfrm>
          <a:prstGeom prst="rect">
            <a:avLst/>
          </a:prstGeom>
          <a:solidFill>
            <a:srgbClr val="C8A415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41F00"/>
                </a:solidFill>
                <a:latin typeface="Consolas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5091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06924" y="6126480"/>
            <a:ext cx="420624" cy="320040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8756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9672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0588" y="6126480"/>
            <a:ext cx="420624" cy="320040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61504" y="6126480"/>
            <a:ext cx="420624" cy="320040"/>
          </a:xfrm>
          <a:prstGeom prst="rect">
            <a:avLst/>
          </a:prstGeom>
          <a:pattFill prst="ltUpDiag">
            <a:fgClr>
              <a:srgbClr val="8A9096"/>
            </a:fgClr>
            <a:bgClr>
              <a:srgbClr val="DDE2E6"/>
            </a:bgClr>
          </a:patt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0555A"/>
                </a:solidFill>
                <a:latin typeface="Consolas"/>
              </a:rPr>
              <a:t>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2420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03336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74252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45167" y="612648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16084" y="6126480"/>
            <a:ext cx="420624" cy="320040"/>
          </a:xfrm>
          <a:prstGeom prst="rect">
            <a:avLst/>
          </a:prstGeom>
          <a:solidFill>
            <a:srgbClr val="B3261E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